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4200" b="1">
                <a:solidFill>
                  <a:srgbClr val="1A1A2E"/>
                </a:solidFill>
                <a:latin typeface="Calibri"/>
              </a:defRPr>
            </a:pPr>
            <a:r>
              <a:t>What Your Sensors</a:t>
            </a:r>
            <a:br/>
            <a:r>
              <a:t>Are Telling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8D"/>
                </a:solidFill>
                <a:latin typeface="Calibri"/>
              </a:defRPr>
            </a:pPr>
            <a:r>
              <a:t>A year of climate data from the warehouse office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461772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Netatmo sensors  ·  3 locations  ·  17,519 readings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Your office is comfortable —</a:t>
            </a:r>
            <a:br/>
            <a:r>
              <a:t>but the air gets stale in winter.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20.1°C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Comfortable year-round (10.9–29.8°C)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Humidity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Borderline — mould threshold is 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32918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CO2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496 ppm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Fine on average — but 17 bad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0704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The building retains heat well, but CO2 builds up when windows are closed. Winter months (May–Sep) account for all 17 bad air quality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Air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CO2 spikes in winter evenings —</a:t>
            </a:r>
            <a:br/>
            <a:r>
              <a:t>when the building is sealed.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11 events exceeded 800 ppm</a:t>
            </a:r>
            <a:br/>
            <a:r>
              <a:t>54 total hours of poor air quality</a:t>
            </a:r>
            <a:br/>
            <a:r>
              <a:t>9 events lasted longer than 3 hours</a:t>
            </a:r>
            <a:br/>
            <a:br/>
            <a:r>
              <a:t>Worst event: Aug 4–5</a:t>
            </a:r>
            <a:br/>
            <a:r>
              <a:t>8.5 hours at peak 1,678 ppm</a:t>
            </a:r>
            <a:br/>
            <a:br/>
            <a:r>
              <a:t>All bad days happen May–Sept</a:t>
            </a:r>
            <a:br/>
            <a:r>
              <a:t>(winter, windows closed)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DAILY PATTERN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29718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6:00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472 ppm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Best air — open windows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361188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473 ppm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People arrive, CO2 starts rising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4251959"/>
            <a:ext cx="137160" cy="1371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514 ppm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60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Peak CO2 — most occupied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89204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500 ppm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People leave, CO2 falls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5532120"/>
            <a:ext cx="137160" cy="1371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21:00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508 ppm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440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Risk zone if still occupied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Humidity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70% average humidity is a</a:t>
            </a:r>
            <a:br/>
            <a:r>
              <a:t>year-round mould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WHERE THE MOISTURE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Weather infiltration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18688"/>
            <a:ext cx="15727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1768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Morning condensation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813048"/>
            <a:ext cx="1060704" cy="2011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Calibri"/>
              </a:defRPr>
            </a:pPr>
            <a: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Occupancy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407407"/>
            <a:ext cx="73152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5001768"/>
            <a:ext cx="292608" cy="201168"/>
          </a:xfrm>
          <a:prstGeom prst="round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4983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WHEN IT'S WORST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Jun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218688"/>
            <a:ext cx="29718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65% of readings &gt;75%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03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Jul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3721607"/>
            <a:ext cx="283464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62% of readings &gt;75%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224527"/>
            <a:ext cx="265176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58% of readings &gt;75%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727448"/>
            <a:ext cx="237744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52% of readings &gt;75%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230368"/>
            <a:ext cx="219456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48% of readings &gt;75%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400"/>
            <a:ext cx="1060704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23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Get a dehumidifier for Jun–Aug. Check for water ingress after storms. Consider humidity-resistant materials for design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Building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building retains heat well —</a:t>
            </a:r>
            <a:br/>
            <a:r>
              <a:t>but airflow is the real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Thermal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9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Temperature half-life after people leave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774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377440"/>
            <a:ext cx="34747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Airflow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No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Air circulates freely between all 3 floors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7744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4747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Envelope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Storms drop indoor temp 0.66°C over 12hrs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07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ENERGY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Estimated annual heating: 2,059 kWh</a:t>
            </a:r>
            <a:br/>
            <a:r>
              <a:t>Heating degree-days: 858</a:t>
            </a:r>
            <a:br/>
            <a:r>
              <a:t>Peak demand: August (6.5 HDD/day)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212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Kitchen runs 1–2°C warmer than other rooms year-round.</a:t>
            </a:r>
            <a:br/>
            <a:r>
              <a:t>Heating is concentrated there — other zones may be</a:t>
            </a:r>
            <a:br/>
            <a:r>
              <a:t>underheated in winter.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People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office is active 8am–9pm,</a:t>
            </a:r>
            <a:br/>
            <a:r>
              <a:t>with clear seasonal rhythms.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Active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08:00–21:00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Peak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3–4pm (54.7 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Est.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~7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Busiest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February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Quietest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Weekend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15.1 hrs/day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B8D"/>
                </a:solidFill>
                <a:latin typeface="Calibri"/>
              </a:defRPr>
            </a:pPr>
            <a:r>
              <a:t>ANOMALIES &amp; LEAVE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Anomalous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203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Worst anomaly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Mar 2 (noise z=7.5)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Peak leave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Mar–Apr (18 days)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Christmas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Dec 23–31 shutdown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Winter leave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Almost 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Busiest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Jan 20 (post-holiday)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What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Three things that would</a:t>
            </a:r>
            <a:br/>
            <a:r>
              <a:t>make the biggest difference.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83464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Ventilate smarter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Open windows at 6–7am (lowest CO2)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Open again after 5pm if staying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In winter, crack a window when CO2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56032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560320"/>
            <a:ext cx="34747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79" y="283464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199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Control humidity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Get a dehumidifier for Jun–Aug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Check for water ingress after storms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Use humidity-resistant storage for materials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56032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28346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Balance the heating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Kitchen runs 1–2°C hotter than other rooms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Consider zoning adjustments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  <a:latin typeface="Calibri"/>
              </a:defRPr>
            </a:pPr>
            <a:r>
              <a:t>→  The building retains heat well — use that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1A2E"/>
                </a:solidFill>
                <a:latin typeface="Calibri"/>
              </a:defRPr>
            </a:pPr>
            <a:r>
              <a:t>The building is talking.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B8D"/>
                </a:solidFill>
                <a:latin typeface="Calibri"/>
              </a:defRPr>
            </a:pPr>
            <a:r>
              <a:t>The sensors are listening.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563EB"/>
                </a:solidFill>
                <a:latin typeface="Calibri"/>
              </a:defRPr>
            </a:pPr>
            <a:r>
              <a:t>Now you know what to do about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Full interactive dashboard and analysis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